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80" r:id="rId22"/>
    <p:sldId id="283" r:id="rId23"/>
    <p:sldId id="282" r:id="rId24"/>
    <p:sldId id="275" r:id="rId25"/>
    <p:sldId id="276" r:id="rId26"/>
    <p:sldId id="277" r:id="rId27"/>
    <p:sldId id="278" r:id="rId28"/>
    <p:sldId id="279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85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027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24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93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82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University of Bisha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</a:rPr>
              <a:t>College of Computing and Information Technology  ·  Department of Information Systems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13232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Privacy-Preserving Student</a:t>
            </a:r>
            <a:endParaRPr lang="en-US" sz="3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Attendance System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75488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2491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Based on Face Recognition with Encrypted Data Embedding Using Steganography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273552"/>
            <a:ext cx="475488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01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</a:rPr>
              <a:t>Presented by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5844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</a:rPr>
              <a:t>Alshikhah Fayz Alsubaie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</a:rPr>
              <a:t>Supervised by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41513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</a:rPr>
              <a:t>Dr. Chahira Mohamed Lhioui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</a:rPr>
              <a:t>MSc in Cyber Security  ·  February 2026  ·  Bisha, Kingdom of Saudi Arabia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0" b="1" dirty="0">
                <a:solidFill>
                  <a:srgbClr val="F4F7FC"/>
                </a:solidFill>
                <a:latin typeface="Cambria" pitchFamily="34" charset="0"/>
                <a:ea typeface="Cambria" pitchFamily="34" charset="-122"/>
              </a:rPr>
              <a:t>2026</a:t>
            </a:r>
            <a:endParaRPr lang="en-US" sz="1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5303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Presentation Outline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1078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078992"/>
            <a:ext cx="502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07899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</a:rPr>
              <a:t>01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069848" y="1353312"/>
            <a:ext cx="36576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1280160"/>
            <a:ext cx="36576" cy="62179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1225296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Introduction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16152" y="160934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Problem statement · Research questions · Objectives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07899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078992"/>
            <a:ext cx="502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078992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</a:rPr>
              <a:t>02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458968" y="1353312"/>
            <a:ext cx="36576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1280160"/>
            <a:ext cx="36576" cy="62179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1225296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Background &amp; Related Work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05272" y="160934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Literature review · Comparative analysis · Research gap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2340864"/>
            <a:ext cx="4114800" cy="10972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340864"/>
            <a:ext cx="502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34086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</a:rPr>
              <a:t>03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1069848" y="2615184"/>
            <a:ext cx="36576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9848" y="2542032"/>
            <a:ext cx="36576" cy="62179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2487168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System Design &amp; Architecture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16152" y="2871216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4-layer architecture · Module design · Data flow pipeline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340864"/>
            <a:ext cx="4114800" cy="10972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340864"/>
            <a:ext cx="502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340864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</a:rPr>
              <a:t>04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5458968" y="2615184"/>
            <a:ext cx="36576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58968" y="2542032"/>
            <a:ext cx="36576" cy="62179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2487168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Implementation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605272" y="2871216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Technology stack · Module details · Integration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360273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602736"/>
            <a:ext cx="502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602736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</a:rPr>
              <a:t>05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1069848" y="3877056"/>
            <a:ext cx="36576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9848" y="3803904"/>
            <a:ext cx="36576" cy="62179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16152" y="3749040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Results &amp; Evaluation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216152" y="4133088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Recognition accuracy 93.8% · PSNR 41.2 dB · SSIM 0.988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602736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602736"/>
            <a:ext cx="5029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0328" y="3602736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</a:rPr>
              <a:t>06</a:t>
            </a:r>
            <a:endParaRPr lang="en-US" sz="2600" dirty="0"/>
          </a:p>
        </p:txBody>
      </p:sp>
      <p:sp>
        <p:nvSpPr>
          <p:cNvPr id="47" name="Shape 45"/>
          <p:cNvSpPr/>
          <p:nvPr/>
        </p:nvSpPr>
        <p:spPr>
          <a:xfrm>
            <a:off x="5458968" y="3877056"/>
            <a:ext cx="36576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58968" y="3803904"/>
            <a:ext cx="36576" cy="62179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05272" y="3749040"/>
            <a:ext cx="3182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</a:rPr>
              <a:t>Conclusion &amp; Future Work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605272" y="4133088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</a:rPr>
              <a:t>Key contributions · Limitations · Future directions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18288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500" b="1" dirty="0">
                <a:solidFill>
                  <a:srgbClr val="1B3A6B">
                    <a:alpha val="2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5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943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Research questions ·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MSc in Cyber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 Statement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IS NEEDED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3977640" cy="138988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98448"/>
            <a:ext cx="50292" cy="13898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353312"/>
            <a:ext cx="373075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is the leading biometric for automated attendance — non-intrusive and camera-compatible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(CNN) models achieve near-human accuracy on large-scale benchmarks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institutional adoption has outpaced data protection 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16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3977640" cy="171907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35808"/>
            <a:ext cx="50292" cy="17190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90672"/>
            <a:ext cx="3730752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store facial images and identity data in centralized databases — a high-value breach target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 are stored separately from image data, creating two independent attack surfaces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prioritize recognition accuracy while data privacy is largely unaddressed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solution integrates recognition accuracy with cryptographic data protection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114800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389888"/>
            <a:ext cx="378561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face recognition attendance system achieve accurate identification while preserving user privacy and protecting sensitive data from unauthorized access?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633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5292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2953512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953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56" dirty="0"/>
          </a:p>
        </p:txBody>
      </p:sp>
      <p:sp>
        <p:nvSpPr>
          <p:cNvPr id="25" name="Text 23"/>
          <p:cNvSpPr/>
          <p:nvPr/>
        </p:nvSpPr>
        <p:spPr>
          <a:xfrm>
            <a:off x="5065776" y="2852928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integrate face recognition for real-time attendance with high accuracy?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64992"/>
            <a:ext cx="4114800" cy="457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3465576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56" dirty="0"/>
          </a:p>
        </p:txBody>
      </p:sp>
      <p:sp>
        <p:nvSpPr>
          <p:cNvPr id="29" name="Text 27"/>
          <p:cNvSpPr/>
          <p:nvPr/>
        </p:nvSpPr>
        <p:spPr>
          <a:xfrm>
            <a:off x="5065776" y="3364992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privacy risks exist in centralized biometric data storage?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87705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3977640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56" dirty="0"/>
          </a:p>
        </p:txBody>
      </p:sp>
      <p:sp>
        <p:nvSpPr>
          <p:cNvPr id="33" name="Text 31"/>
          <p:cNvSpPr/>
          <p:nvPr/>
        </p:nvSpPr>
        <p:spPr>
          <a:xfrm>
            <a:off x="5065776" y="3877056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AES-256 encryption protect attendance data without latency impact?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4389120"/>
            <a:ext cx="4114800" cy="457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4489704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56" dirty="0"/>
          </a:p>
        </p:txBody>
      </p:sp>
      <p:sp>
        <p:nvSpPr>
          <p:cNvPr id="37" name="Text 35"/>
          <p:cNvSpPr/>
          <p:nvPr/>
        </p:nvSpPr>
        <p:spPr>
          <a:xfrm>
            <a:off x="5065776" y="438912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LSB steganography embed encrypted data while preserving image quality?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MEASURABLE GOALS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4114800" cy="11521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78992"/>
            <a:ext cx="50292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188720"/>
            <a:ext cx="274320" cy="2743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3544" y="1170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Face Recognition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3544" y="1481328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15544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CNN-based attendance system using deep facial embeddings trained on VGGFace2 (3M+ images, 9,000+ identities)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78992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078992"/>
            <a:ext cx="50292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1188720"/>
            <a:ext cx="274320" cy="2743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2664" y="1170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 Data Encryption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12664" y="1481328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155448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all attendance records using AES-256-GCM before storage — zero plaintext data at any system stage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377440"/>
            <a:ext cx="4114800" cy="11521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377440"/>
            <a:ext cx="50292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" y="2487168"/>
            <a:ext cx="274320" cy="2743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LSB Steganographic Embedding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3544" y="2779776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28529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encrypted data invisibly into captured images — each stego-image becomes a self-contained attendance record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377440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377440"/>
            <a:ext cx="50292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28616" y="2487168"/>
            <a:ext cx="274320" cy="2743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12664" y="24688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Processing Pipeline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12664" y="2779776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12664" y="28529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recognition, encryption, and steganography into one sequential modular pipeline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3675888"/>
            <a:ext cx="4114800" cy="11521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675888"/>
            <a:ext cx="50292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" y="3785616"/>
            <a:ext cx="274320" cy="2743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" y="3767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 Security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23544" y="4078224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" y="41513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two independent security barriers: AES-256 (confidentiality) + LSB (obscurity)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675888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675888"/>
            <a:ext cx="50292" cy="11521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28616" y="3785616"/>
            <a:ext cx="274320" cy="27432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12664" y="37673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 System Evaluation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312664" y="4078224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2664" y="4151376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F1-score, PSNR, SSIM, and processing latency across all modules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18288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500" b="1" dirty="0">
                <a:solidFill>
                  <a:srgbClr val="1B3A6B">
                    <a:alpha val="2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5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943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Comparative analysis · Research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MSc in Cyber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Background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FOUNDATIONAL DOMAINS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78992"/>
            <a:ext cx="50292" cy="115214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17043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Face Recognition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" y="1481328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554480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generate high-dimensional embeddings mapping faces to a metric space.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(triplet loss), DeepFace, ArcFace (angular margin) — distance = dissimilarity.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078992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078992"/>
            <a:ext cx="50292" cy="115214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17043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Attendance 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65192" y="1481328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1554480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identity-based attendance via real-time facial matching.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large datasets enables high accuracy with low training overhead.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377440"/>
            <a:ext cx="4114800" cy="11521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77440"/>
            <a:ext cx="50292" cy="115214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46888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 Symmetric Encryption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" y="2779776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852928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 with 256-bit key — brute-force computationally infeasible.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latency: ~12 ms per record. Data unintelligible without the decryption key.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4114800" cy="11521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377440"/>
            <a:ext cx="50292" cy="115214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46888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LSB Image Steganography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65192" y="2779776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2852928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LSB of each pixel's RGB channels with binary data.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of ±1 intensity per channel — visually imperceptible to human observers.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675888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675888"/>
            <a:ext cx="50292" cy="115214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76732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Biometrics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76072" y="4078224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151376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Cryptography, secure multi-party computation, and obfuscation protect templates.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maintaining real-time performance alongside strong protection.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675888"/>
            <a:ext cx="41148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675888"/>
            <a:ext cx="50292" cy="115214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76732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Quality Metrics (PSNR / SSIM)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965192" y="4078224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4151376"/>
            <a:ext cx="38587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pixel-level distortion in dB — higher is better.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SSIM: structural similarity (0–1); 1.0 = identical image.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&amp; Research Gap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ACROSS THREE DOMAINS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MODELS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3977640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98448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05890" y="1298448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00300" y="1298448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94710" y="1298448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1609344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0934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05890" y="160934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00300" y="160934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94710" y="160934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protection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1911096"/>
            <a:ext cx="3977640" cy="30175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11096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05890" y="1911096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00300" y="1911096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94710" y="1911096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212848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212848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05890" y="2212848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00300" y="2212848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94710" y="2212848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ATTENDANCE SYSTEMS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1298448"/>
            <a:ext cx="4114800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298448"/>
            <a:ext cx="10287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92140" y="1298448"/>
            <a:ext cx="10287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1298448"/>
            <a:ext cx="10287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49540" y="1298448"/>
            <a:ext cx="10287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1609344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609344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Karunakar et al.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92140" y="1609344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1609344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49540" y="1609344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privacy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1911096"/>
            <a:ext cx="4114800" cy="30175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1911096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Wagh et al.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92140" y="1911096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20840" y="1911096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49540" y="1911096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robustness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212848"/>
            <a:ext cx="41148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212848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[11]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92140" y="2212848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720840" y="2212848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49540" y="2212848"/>
            <a:ext cx="10287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" y="2670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METHODS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11480" y="2889504"/>
            <a:ext cx="3977640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889504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405890" y="2889504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400300" y="2889504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394710" y="2889504"/>
            <a:ext cx="9944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11480" y="3200400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3200400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405890" y="3200400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400300" y="3200400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394710" y="3200400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detectable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11480" y="3502152"/>
            <a:ext cx="3977640" cy="30175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3502152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Stego.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405890" y="3502152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400300" y="3502152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394710" y="3502152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compute cost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1480" y="3803904"/>
            <a:ext cx="3977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380390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405890" y="380390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400300" y="380390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394710" y="3803904"/>
            <a:ext cx="99441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training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663440" y="2670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663440" y="2889504"/>
            <a:ext cx="4114800" cy="192024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2889504"/>
            <a:ext cx="50292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9744" y="2962656"/>
            <a:ext cx="3858768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system combines face recognition + AES encryption + LSB steganography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reviewed attendance systems depend on centralized plaintext data storage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cryptographic approaches incur overhead incompatible with real-time use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has never been applied within a biometric attendance context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18288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500" b="1" dirty="0">
                <a:solidFill>
                  <a:srgbClr val="1B3A6B">
                    <a:alpha val="2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5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943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Architecture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design · Module breakdown · Data flow 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MSc in Cyber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4-Layer Design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 ·  SEQUENTIAL  ·  SELF-CONTAINED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078992"/>
            <a:ext cx="201168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078992"/>
            <a:ext cx="201168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133856"/>
            <a:ext cx="201168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1338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" y="1773936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105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Acquisition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" y="2176272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377440"/>
            <a:ext cx="73152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189790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capture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" y="2926080"/>
            <a:ext cx="73152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9806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&amp; extraction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2064" y="3474720"/>
            <a:ext cx="73152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67192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alignment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" y="4023360"/>
            <a:ext cx="73152" cy="7315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15832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normalization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59152" y="246888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496312" y="1078992"/>
            <a:ext cx="201168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96312" y="1078992"/>
            <a:ext cx="201168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96312" y="1133856"/>
            <a:ext cx="201168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6312" y="11338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2633472" y="1773936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18105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633472" y="2176272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60904" y="2377440"/>
            <a:ext cx="731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224942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VGGFace2 pretrained CNN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60904" y="2926080"/>
            <a:ext cx="731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272517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 vector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60904" y="3474720"/>
            <a:ext cx="731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334670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/ Euclidean distance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60904" y="4023360"/>
            <a:ext cx="73152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88920" y="389534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identity decision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07992" y="246888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4645152" y="1078992"/>
            <a:ext cx="201168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45152" y="1078992"/>
            <a:ext cx="2011680" cy="54864"/>
          </a:xfrm>
          <a:prstGeom prst="rect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45152" y="1133856"/>
            <a:ext cx="201168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11338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46" name="Shape 44"/>
          <p:cNvSpPr/>
          <p:nvPr/>
        </p:nvSpPr>
        <p:spPr>
          <a:xfrm>
            <a:off x="4782312" y="1773936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8105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Layer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82312" y="2176272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9744" y="2377440"/>
            <a:ext cx="73152" cy="73152"/>
          </a:xfrm>
          <a:prstGeom prst="rect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163286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09744" y="2926080"/>
            <a:ext cx="73152" cy="73152"/>
          </a:xfrm>
          <a:prstGeom prst="rect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273180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generation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09744" y="3474720"/>
            <a:ext cx="73152" cy="73152"/>
          </a:xfrm>
          <a:prstGeom prst="rect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333452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embedding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09744" y="4023360"/>
            <a:ext cx="73152" cy="73152"/>
          </a:xfrm>
          <a:prstGeom prst="rect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82245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data protection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656832" y="2468880"/>
            <a:ext cx="137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200" dirty="0"/>
          </a:p>
        </p:txBody>
      </p:sp>
      <p:sp>
        <p:nvSpPr>
          <p:cNvPr id="58" name="Shape 56"/>
          <p:cNvSpPr/>
          <p:nvPr/>
        </p:nvSpPr>
        <p:spPr>
          <a:xfrm>
            <a:off x="6793992" y="1078992"/>
            <a:ext cx="2011680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93992" y="1078992"/>
            <a:ext cx="2011680" cy="54864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93992" y="1133856"/>
            <a:ext cx="2011680" cy="6400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93992" y="113385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62" name="Shape 60"/>
          <p:cNvSpPr/>
          <p:nvPr/>
        </p:nvSpPr>
        <p:spPr>
          <a:xfrm>
            <a:off x="6931152" y="1773936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85432" y="18105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Layer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931152" y="2176272"/>
            <a:ext cx="17373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58584" y="2377440"/>
            <a:ext cx="73152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224942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Stego-image = attendance record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958584" y="2926080"/>
            <a:ext cx="73152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2798064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plaintext database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958584" y="3474720"/>
            <a:ext cx="73152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86600" y="3340078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carries visual + hidden data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958584" y="4023360"/>
            <a:ext cx="73152" cy="73152"/>
          </a:xfrm>
          <a:prstGeom prst="rect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86600" y="3809206"/>
            <a:ext cx="1609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attack surface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47472" y="4754880"/>
            <a:ext cx="8430768" cy="20116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" y="4754880"/>
            <a:ext cx="8275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 </a:t>
            </a: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records are encrypted then embedded directly into captured images — eliminating any separate plaintext database and reducing the attack surface.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Module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DEEP CNN EMBEDDING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078992"/>
            <a:ext cx="1600200" cy="171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078992"/>
            <a:ext cx="1600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133856"/>
            <a:ext cx="160020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13385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0624" y="1682496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Detection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1380744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084832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/ RetinaFace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localizes face region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47672" y="1792224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66544" y="1078992"/>
            <a:ext cx="1600200" cy="1718799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1078992"/>
            <a:ext cx="1600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66544" y="1133856"/>
            <a:ext cx="160020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113385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139696" y="1682496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&amp; Normalize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76272" y="2011680"/>
            <a:ext cx="1380744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2084832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alignment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pixel normalization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66744" y="1792224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785616" y="1078992"/>
            <a:ext cx="1600200" cy="171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85616" y="1078992"/>
            <a:ext cx="1600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85616" y="1133856"/>
            <a:ext cx="160020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5616" y="113385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58768" y="1682496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Embedding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95344" y="2011680"/>
            <a:ext cx="1380744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58768" y="2084832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VGGFace2 → 512-d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85816" y="1792224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504688" y="1078992"/>
            <a:ext cx="1600200" cy="1718799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04688" y="1078992"/>
            <a:ext cx="1600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1133856"/>
            <a:ext cx="160020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04688" y="113385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577840" y="1682496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Match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614416" y="2011680"/>
            <a:ext cx="1380744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2084832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/ Euclidean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stored templates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04888" y="1792224"/>
            <a:ext cx="118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223760" y="1078992"/>
            <a:ext cx="1600200" cy="171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1078992"/>
            <a:ext cx="1600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23760" y="1133856"/>
            <a:ext cx="1600200" cy="50292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1133856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296912" y="1682496"/>
            <a:ext cx="1453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Decision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333488" y="2011680"/>
            <a:ext cx="1380744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2084832"/>
            <a:ext cx="1453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Match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 |  No match → reject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7472" y="2980671"/>
            <a:ext cx="3977640" cy="1952995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044" y="2971527"/>
            <a:ext cx="68580" cy="1962139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00059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VGGFACE2 DATASET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2064" y="3493008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 images across 9,000+ unique identities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intra-class variation: pose, age, illumination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benchmark for real-world recognition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with LFW (Labeled Faces in the Wild)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617720" y="2980671"/>
            <a:ext cx="4160520" cy="1952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90288" y="2980671"/>
            <a:ext cx="77724" cy="1952995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82312" y="299377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LOGIC &amp; STORAGE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82312" y="3192758"/>
            <a:ext cx="4023360" cy="16521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facial embeddings precomputed and stored in reference DB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live embedding compared against all stored templates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distance threshold determines match vs. rejection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storage components: raw images · stego-images · embeddings DB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Layer — AES-256 + LSB Steganography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DUAL-BARRIER DATA PROTECTION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3977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98448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98448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1353312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Creation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968" y="1609344"/>
            <a:ext cx="3410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+ timestamp structured into a serialized string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1993392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2286000"/>
            <a:ext cx="3977640" cy="6949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286000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86000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" y="2340864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AES-256-GCM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968" y="2596896"/>
            <a:ext cx="3410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 applied using a securely managed secret key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2980944"/>
            <a:ext cx="201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3273552"/>
            <a:ext cx="3977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273552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73552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6968" y="3328416"/>
            <a:ext cx="3410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Ciphertext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" y="3584448"/>
            <a:ext cx="3410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payload passed directly to steganography module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EMBEDDING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298448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298448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298448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38928" y="1353312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Conversion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38928" y="16093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converted to a binary bit stream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199339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2048256"/>
            <a:ext cx="4114800" cy="6949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048256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048256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38928" y="2103120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 Selection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38928" y="2359152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channels of host image selected sequentially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56048" y="27432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2798064"/>
            <a:ext cx="41148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798064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798064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138928" y="2852928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LSB Substitution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138928" y="3108960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of each channel replaced with one data bit — ±1 intensity change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56048" y="349300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547872"/>
            <a:ext cx="4114800" cy="69494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547872"/>
            <a:ext cx="384048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547872"/>
            <a:ext cx="384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138928" y="3602736"/>
            <a:ext cx="35478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Stego-Image Output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138928" y="385876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identical image — encrypted data embedded at bit level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4425696"/>
            <a:ext cx="8366760" cy="42062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1480" y="4425696"/>
            <a:ext cx="50292" cy="4206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4425696"/>
            <a:ext cx="8119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Dual-Layer Guarantee: 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obtains the stego-image must first detect the hidden data (defeats LSB), then decrypt it (defeats AES-256). Each barrier is independently undefeatable.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Data Flow — End-to-End Pipeline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SEQUENTIAL STEPS · CAMERA TO STEGO-IMAGE STORAGE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78992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789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41832" y="1133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Capture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14081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acquires real-time facial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1847088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975104"/>
            <a:ext cx="4114800" cy="768096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975104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75104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" y="20299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Extraction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" y="2304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 localizes and crops face region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" y="274320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87121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871216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871216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1832" y="29260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" y="3200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generates 512-d facial embedding vector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" y="3639312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767328"/>
            <a:ext cx="4114800" cy="768096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767328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67328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1832" y="38221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Matching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" y="40965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compared to stored templates via distance metric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1078992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1078992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0789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30952" y="1133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Generation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30952" y="14081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 created: [ User ID + Timestamp 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0328" y="1847088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1975104"/>
            <a:ext cx="4114800" cy="768096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1975104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975104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30952" y="20299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AES-256 Encryption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30952" y="2304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encrypted into ciphertext using managed key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0328" y="2743200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287121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871216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871216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330952" y="29260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LSB Embedding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30952" y="32004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embedded into image RGB channels bit-by-bit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0328" y="3639312"/>
            <a:ext cx="2011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5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3767328"/>
            <a:ext cx="4114800" cy="768096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767328"/>
            <a:ext cx="420624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767328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5330952" y="38221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Stego-Image Storage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30952" y="40965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stored — visual record + encrypted attendance data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18288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500" b="1" dirty="0">
                <a:solidFill>
                  <a:srgbClr val="1B3A6B">
                    <a:alpha val="2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5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943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· Module details · Storage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MSc in Cyber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Stack &amp; Module Details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OPENCV  ·  AES-256  ·  CUSTOM LSB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298448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298448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719072"/>
            <a:ext cx="3977640" cy="39319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19072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1719072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139696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139696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2139696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560320"/>
            <a:ext cx="3977640" cy="39319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560320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2560320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cryptography — AES-256-GCM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2980944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980944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2980944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LSB module (no third-party library)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401568"/>
            <a:ext cx="3977640" cy="39319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401568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57400" y="3401568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822192"/>
            <a:ext cx="39776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822192"/>
            <a:ext cx="14813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57400" y="3822192"/>
            <a:ext cx="2240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PyCharm — Windows / Linux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IMPLEMENTATION SUMMARY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298448"/>
            <a:ext cx="4114800" cy="78638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298448"/>
            <a:ext cx="50292" cy="7863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362456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1645920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detect → align → normalize → embed → match. VGGFace2 weights. Enrollment phase precomputes and stores reference embeddings.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50292" cy="7863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258568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Module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00600" y="2542032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applied to structured [User ID + Timestamp] string. Ciphertext piped directly to steganography. No plaintext persisted.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090672"/>
            <a:ext cx="4114800" cy="78638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90672"/>
            <a:ext cx="50292" cy="7863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154680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 Module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800600" y="3438144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LSB: ciphertext → binary → RGB channel LSB substitution. Fully reversible — supports data extraction and decryption.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98678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3986784"/>
            <a:ext cx="50292" cy="7863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050792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Design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800600" y="4334256"/>
            <a:ext cx="3858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Image-centric: stego-images replace tabular DB.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stores: raw captures · stego-images (records) · embeddings DB.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18288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500" b="1" dirty="0">
                <a:solidFill>
                  <a:srgbClr val="1B3A6B">
                    <a:alpha val="2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5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943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 · Confusion matrix · PSNR / SSIM · Processing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MSc in Cyber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Performance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7406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5-1  ·  CONFUSION MATRIX  ·  ERROR 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1920240" cy="126187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78992"/>
            <a:ext cx="19202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133856"/>
            <a:ext cx="192024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1987540"/>
            <a:ext cx="182880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1078992"/>
            <a:ext cx="1920240" cy="126187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078992"/>
            <a:ext cx="19202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133856"/>
            <a:ext cx="192024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68880" y="1987540"/>
            <a:ext cx="182880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 FP Rate)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1078992"/>
            <a:ext cx="1920240" cy="126187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078992"/>
            <a:ext cx="19202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133856"/>
            <a:ext cx="192024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480560" y="1987540"/>
            <a:ext cx="182880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(Detection Rate)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1078992"/>
            <a:ext cx="1920240" cy="126187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1078992"/>
            <a:ext cx="19202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133856"/>
            <a:ext cx="1920240" cy="757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92240" y="1987540"/>
            <a:ext cx="1828800" cy="32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(Harmonic Mean)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25054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SUMMARY (TABLE 5-2)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724912"/>
            <a:ext cx="397764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72491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27249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27249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054096"/>
            <a:ext cx="397764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54096"/>
            <a:ext cx="1691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Faces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03120" y="3054096"/>
            <a:ext cx="1143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246120" y="3054096"/>
            <a:ext cx="1143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411480" y="3657600"/>
            <a:ext cx="3977640" cy="57607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57600"/>
            <a:ext cx="1691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Faces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03120" y="3657600"/>
            <a:ext cx="1143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246120" y="3657600"/>
            <a:ext cx="11430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663440" y="25054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MISCLASSIFICATION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72491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843784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56" dirty="0"/>
          </a:p>
        </p:txBody>
      </p:sp>
      <p:sp>
        <p:nvSpPr>
          <p:cNvPr id="43" name="Text 41"/>
          <p:cNvSpPr/>
          <p:nvPr/>
        </p:nvSpPr>
        <p:spPr>
          <a:xfrm>
            <a:off x="5102352" y="277977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Lighting Variation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102352" y="299923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not fully represented in training distribution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3291840"/>
            <a:ext cx="411480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410712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410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56" dirty="0"/>
          </a:p>
        </p:txBody>
      </p:sp>
      <p:sp>
        <p:nvSpPr>
          <p:cNvPr id="48" name="Text 46"/>
          <p:cNvSpPr/>
          <p:nvPr/>
        </p:nvSpPr>
        <p:spPr>
          <a:xfrm>
            <a:off x="5102352" y="3346704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Occlusion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102352" y="356616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Glasses, masks, or partial coverage degrades embedding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385876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977640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56" dirty="0"/>
          </a:p>
        </p:txBody>
      </p:sp>
      <p:sp>
        <p:nvSpPr>
          <p:cNvPr id="53" name="Text 51"/>
          <p:cNvSpPr/>
          <p:nvPr/>
        </p:nvSpPr>
        <p:spPr>
          <a:xfrm>
            <a:off x="5102352" y="391363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Head Pose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102352" y="4133088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outside the model's training pose distribution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663440" y="4425696"/>
            <a:ext cx="411480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4544568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56" dirty="0"/>
          </a:p>
        </p:txBody>
      </p:sp>
      <p:sp>
        <p:nvSpPr>
          <p:cNvPr id="58" name="Text 56"/>
          <p:cNvSpPr/>
          <p:nvPr/>
        </p:nvSpPr>
        <p:spPr>
          <a:xfrm>
            <a:off x="5102352" y="448056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Quality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102352" y="470001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or noisy input from camera sensor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Performance &amp; Steganography Evaluation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PER MODULE (TABLE 5-3)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98448"/>
            <a:ext cx="50292" cy="58521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29844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27248" y="1298448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ms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11480" y="1956816"/>
            <a:ext cx="3977640" cy="585216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956816"/>
            <a:ext cx="50292" cy="58521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956816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27248" y="1956816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 ms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11480" y="2615184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615184"/>
            <a:ext cx="50292" cy="58521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615184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27248" y="2615184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11480" y="3273552"/>
            <a:ext cx="3977640" cy="585216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273552"/>
            <a:ext cx="50292" cy="58521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273552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Embedding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27248" y="3273552"/>
            <a:ext cx="11704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D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ms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397764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9319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752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 ms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METRICS (TABLE 5-4)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298448"/>
            <a:ext cx="1920240" cy="135331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298448"/>
            <a:ext cx="19202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353312"/>
            <a:ext cx="1920240" cy="943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41.2 dB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713732" y="2114824"/>
            <a:ext cx="1828800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pixel distortion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12280" y="1298448"/>
            <a:ext cx="1920240" cy="135331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1298448"/>
            <a:ext cx="192024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1353312"/>
            <a:ext cx="1920240" cy="943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858000" y="2116941"/>
            <a:ext cx="1828800" cy="40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structure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2790149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CAPACITY &amp; KEY FINDINGS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2999232"/>
            <a:ext cx="4114800" cy="184708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999232"/>
            <a:ext cx="45719" cy="1847088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3144168"/>
            <a:ext cx="3858768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 image provides ~115 KB capacity — sufficient for full encrypted record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adds only ~12 ms overhead — negligible at system scale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0.988 and PSNR 41.2 dB confirm embedding is visually imperceptible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ms total pipeline supports near real-time multi-user sequential operation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/>
          <p:nvPr/>
        </p:nvPicPr>
        <p:blipFill>
          <a:blip r:embed="rId3"/>
          <a:stretch>
            <a:fillRect/>
          </a:stretch>
        </p:blipFill>
        <p:spPr>
          <a:xfrm>
            <a:off x="1586230" y="1708213"/>
            <a:ext cx="7557770" cy="336670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 Interface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4114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78992"/>
            <a:ext cx="50292" cy="1536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1338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5-1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7784" y="133502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Portal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" y="1664208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1737360"/>
            <a:ext cx="38587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gateway. Introduces system pillars: 512-d embeddings, AES-256 encryption, and LSB steganography.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188464"/>
            <a:ext cx="6664960" cy="28956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 Interface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00600" y="1078992"/>
            <a:ext cx="4114800" cy="153619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078992"/>
            <a:ext cx="50292" cy="15361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11338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5-2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46904" y="133502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46904" y="1664208"/>
            <a:ext cx="38587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1737360"/>
            <a:ext cx="38587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real-time pipeline status (MTCNN → FaceNet → AES-256-GCM → LSB), encryption stages, and student/course data.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50266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 Interface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11480" y="2779776"/>
            <a:ext cx="27249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779776"/>
            <a:ext cx="50292" cy="20116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8346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5-3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9496" y="30358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Registration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9496" y="3346704"/>
            <a:ext cx="24871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3419856"/>
            <a:ext cx="24871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enrollment interface. Each student linked to unique facial embeddings and attendance history.</a:t>
            </a:r>
            <a:endParaRPr lang="en-US" sz="1100" dirty="0"/>
          </a:p>
        </p:txBody>
      </p:sp>
      <p:pic>
        <p:nvPicPr>
          <p:cNvPr id="41" name="Picture 40"/>
          <p:cNvPicPr/>
          <p:nvPr/>
        </p:nvPicPr>
        <p:blipFill>
          <a:blip r:embed="rId3"/>
          <a:stretch>
            <a:fillRect/>
          </a:stretch>
        </p:blipFill>
        <p:spPr>
          <a:xfrm>
            <a:off x="3136392" y="1430782"/>
            <a:ext cx="5971540" cy="286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46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 Interface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190488" y="2978559"/>
            <a:ext cx="2724912" cy="2011680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0488" y="2978559"/>
            <a:ext cx="50292" cy="20116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3033423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5-4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18504" y="3234591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Attendance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18504" y="3545487"/>
            <a:ext cx="24871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618639"/>
            <a:ext cx="24871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4-step pipeline: Capture → Recognize → Encrypt → Embed. Generates downloadable tamper-proof stego-image.</a:t>
            </a:r>
            <a:endParaRPr lang="en-US" sz="1100" dirty="0"/>
          </a:p>
        </p:txBody>
      </p:sp>
      <p:pic>
        <p:nvPicPr>
          <p:cNvPr id="41" name="Picture 40"/>
          <p:cNvPicPr/>
          <p:nvPr/>
        </p:nvPicPr>
        <p:blipFill>
          <a:blip r:embed="rId3"/>
          <a:stretch>
            <a:fillRect/>
          </a:stretch>
        </p:blipFill>
        <p:spPr>
          <a:xfrm>
            <a:off x="208788" y="1730339"/>
            <a:ext cx="5971540" cy="280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1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User Interface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117336" y="1746106"/>
            <a:ext cx="27249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17336" y="1746106"/>
            <a:ext cx="50292" cy="201168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180097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5-5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45352" y="200213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Stego-Image Viewer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45352" y="2313034"/>
            <a:ext cx="2487168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45352" y="2386186"/>
            <a:ext cx="24871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module: upload stego-image → LSB extract → AES decrypt → confirm identity and timestamp.</a:t>
            </a:r>
            <a:endParaRPr lang="en-US" sz="11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46107"/>
            <a:ext cx="5690616" cy="271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4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18288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500" b="1" dirty="0">
                <a:solidFill>
                  <a:srgbClr val="1B3A6B">
                    <a:alpha val="2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5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94360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· Limitations · Future directions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MSc in Cyber Security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— Strengths &amp; Limitations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EVALUATION OF SYSTEM PERFORMANCE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STRENGTHS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417320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56" dirty="0"/>
          </a:p>
        </p:txBody>
      </p:sp>
      <p:sp>
        <p:nvSpPr>
          <p:cNvPr id="14" name="Text 12"/>
          <p:cNvSpPr/>
          <p:nvPr/>
        </p:nvSpPr>
        <p:spPr>
          <a:xfrm>
            <a:off x="850392" y="1353312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 Recognition Accuracy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" y="1572768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with SOTA on VGGFace2 — strong discriminatory capability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1865376"/>
            <a:ext cx="397764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56" dirty="0"/>
          </a:p>
        </p:txBody>
      </p:sp>
      <p:sp>
        <p:nvSpPr>
          <p:cNvPr id="19" name="Text 17"/>
          <p:cNvSpPr/>
          <p:nvPr/>
        </p:nvSpPr>
        <p:spPr>
          <a:xfrm>
            <a:off x="850392" y="1920240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 ms Total Pipeline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50392" y="2139696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real-time performance — suitable for live institutional deployment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2432304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551176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56" dirty="0"/>
          </a:p>
        </p:txBody>
      </p:sp>
      <p:sp>
        <p:nvSpPr>
          <p:cNvPr id="24" name="Text 22"/>
          <p:cNvSpPr/>
          <p:nvPr/>
        </p:nvSpPr>
        <p:spPr>
          <a:xfrm>
            <a:off x="850392" y="2487168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41.2 dB / SSIM 0.988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0392" y="2706624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Steganographic embedding is visually imperceptible to human observers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2999232"/>
            <a:ext cx="397764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118104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56" dirty="0"/>
          </a:p>
        </p:txBody>
      </p:sp>
      <p:sp>
        <p:nvSpPr>
          <p:cNvPr id="29" name="Text 27"/>
          <p:cNvSpPr/>
          <p:nvPr/>
        </p:nvSpPr>
        <p:spPr>
          <a:xfrm>
            <a:off x="850392" y="3054096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 Security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0392" y="3273552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LSB form two independent barriers — both must be independently defeated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3566160"/>
            <a:ext cx="3977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685032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56" dirty="0"/>
          </a:p>
        </p:txBody>
      </p:sp>
      <p:sp>
        <p:nvSpPr>
          <p:cNvPr id="34" name="Text 32"/>
          <p:cNvSpPr/>
          <p:nvPr/>
        </p:nvSpPr>
        <p:spPr>
          <a:xfrm>
            <a:off x="850392" y="3621024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Eliminated Centralized Store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50392" y="3840480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Stego-image = attendance record — no separate plaintext database required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133088"/>
            <a:ext cx="397764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251960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56" dirty="0"/>
          </a:p>
        </p:txBody>
      </p:sp>
      <p:sp>
        <p:nvSpPr>
          <p:cNvPr id="39" name="Text 37"/>
          <p:cNvSpPr/>
          <p:nvPr/>
        </p:nvSpPr>
        <p:spPr>
          <a:xfrm>
            <a:off x="850392" y="4187952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Architecture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50392" y="4407408"/>
            <a:ext cx="34472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independently upgradable without affecting the pipeline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LIMITATIONS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129844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1417320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56" dirty="0"/>
          </a:p>
        </p:txBody>
      </p:sp>
      <p:sp>
        <p:nvSpPr>
          <p:cNvPr id="45" name="Text 43"/>
          <p:cNvSpPr/>
          <p:nvPr/>
        </p:nvSpPr>
        <p:spPr>
          <a:xfrm>
            <a:off x="5102352" y="135331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Sensitivity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102352" y="1572768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lighting or occlusion reduces recognition accuracy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63440" y="1865376"/>
            <a:ext cx="411480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1984248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56" dirty="0"/>
          </a:p>
        </p:txBody>
      </p:sp>
      <p:sp>
        <p:nvSpPr>
          <p:cNvPr id="50" name="Text 48"/>
          <p:cNvSpPr/>
          <p:nvPr/>
        </p:nvSpPr>
        <p:spPr>
          <a:xfrm>
            <a:off x="5102352" y="192024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Environment Only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102352" y="213969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not validated in unconstrained outdoor conditions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243230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2551176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56" dirty="0"/>
          </a:p>
        </p:txBody>
      </p:sp>
      <p:sp>
        <p:nvSpPr>
          <p:cNvPr id="55" name="Text 53"/>
          <p:cNvSpPr/>
          <p:nvPr/>
        </p:nvSpPr>
        <p:spPr>
          <a:xfrm>
            <a:off x="5102352" y="2487168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Image Dependency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102352" y="2706624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quality bounded by camera sensor and capture conditions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63440" y="2999232"/>
            <a:ext cx="411480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3118104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56" dirty="0"/>
          </a:p>
        </p:txBody>
      </p:sp>
      <p:sp>
        <p:nvSpPr>
          <p:cNvPr id="60" name="Text 58"/>
          <p:cNvSpPr/>
          <p:nvPr/>
        </p:nvSpPr>
        <p:spPr>
          <a:xfrm>
            <a:off x="5102352" y="3054096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Variability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102352" y="327355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latency varies — no GPU availability guaranteed across deployments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63440" y="356616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3685032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56" dirty="0"/>
          </a:p>
        </p:txBody>
      </p:sp>
      <p:sp>
        <p:nvSpPr>
          <p:cNvPr id="65" name="Text 63"/>
          <p:cNvSpPr/>
          <p:nvPr/>
        </p:nvSpPr>
        <p:spPr>
          <a:xfrm>
            <a:off x="5102352" y="3621024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LSB Robustness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102352" y="3840480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is less robust than transform-domain steganography methods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663440" y="4133088"/>
            <a:ext cx="4114800" cy="512064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0" y="4251960"/>
            <a:ext cx="25603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56" dirty="0"/>
          </a:p>
        </p:txBody>
      </p:sp>
      <p:sp>
        <p:nvSpPr>
          <p:cNvPr id="70" name="Text 68"/>
          <p:cNvSpPr/>
          <p:nvPr/>
        </p:nvSpPr>
        <p:spPr>
          <a:xfrm>
            <a:off x="5102352" y="4187952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Unverified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102352" y="4407408"/>
            <a:ext cx="3584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institutional deployment requires further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Contributions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RESEARCH ESTABLISHED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ACHIEVEMENTS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298448"/>
            <a:ext cx="8366760" cy="93268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298448"/>
            <a:ext cx="50292" cy="9326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353312"/>
            <a:ext cx="811987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complete privacy-preserving attendance system — face recognition + AES-256 + LSB steganography in one unified pipeline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93.8% accuracy with 235 ms end-to-end pipeline — PSNR 41.2 dB and SSIM 0.988 confirm imperceptible embedding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centralized plaintext storage — every stego-image is a self-contained, encrypted, and verifiable attendance record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CONTRIBUTIONS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615184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615184"/>
            <a:ext cx="50292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2724912"/>
            <a:ext cx="310896" cy="3108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Integrated System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303580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unifies face recognition + AES + LSB steganography in a single attendance pipeline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615184"/>
            <a:ext cx="4114800" cy="98755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615184"/>
            <a:ext cx="50292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28616" y="2724912"/>
            <a:ext cx="310896" cy="3108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27066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Image-Centric Storage Design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49240" y="3035808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stego-image stores both visual data and the encrypted attendance record — no external database needed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374904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749040"/>
            <a:ext cx="50292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" y="3858768"/>
            <a:ext cx="310896" cy="3108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38404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Defense-in-Depth Framework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0120" y="416966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barriers: AES-256 (data unintelligibility) + LSB (data undetectability) — must be defeated separately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749040"/>
            <a:ext cx="4114800" cy="98755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3749040"/>
            <a:ext cx="50292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28616" y="3858768"/>
            <a:ext cx="310896" cy="310896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8404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Evaluation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349240" y="4169664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benchmarked across recognition metrics, confusion matrix, timing per module, PSNR/SSIM, and embedding capacity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84064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Bisha  ·  Department of Information Systems  ·  MSc in Cyber Security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504748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"/>
            <a:ext cx="64008" cy="7132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5836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8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DIRECTIONS FOR FURTHER RESEARCH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4114800" cy="117043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78992"/>
            <a:ext cx="50292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207008"/>
            <a:ext cx="256032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23544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Face Recognition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3544" y="1499616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157276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next-generation models (TransFace, CosFace) to improve robustness under occlusion, extreme pose, and low-light conditions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78992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078992"/>
            <a:ext cx="50292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8616" y="1207008"/>
            <a:ext cx="256032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12664" y="1170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Authentication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12664" y="1499616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157276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secondary biometric factor (voice or fingerprint) to strengthen identity verification and reduce false positive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2395728"/>
            <a:ext cx="4114800" cy="117043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2395728"/>
            <a:ext cx="50292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" y="2523744"/>
            <a:ext cx="256032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Device Deployment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3544" y="2816352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288950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CNN inference and AES for low-power SoCs (Raspberry Pi, mobile) — enabling portable, self-contained deployment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39572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395728"/>
            <a:ext cx="50292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28616" y="2523744"/>
            <a:ext cx="256032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12664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Cryptography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312664" y="2816352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12664" y="2889504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RSA-based key exchange combined with AES data encryption, or homomorphic encryption for privacy-preserving computation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3712464"/>
            <a:ext cx="4114800" cy="1170432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712464"/>
            <a:ext cx="50292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" y="3840480"/>
            <a:ext cx="256032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Steganography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23544" y="4133088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" y="420624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transform-domain methods (DCT/DWT) or deep learning steganography (HiDDeN/RDH) for greater capacity and robustness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712464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712464"/>
            <a:ext cx="50292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28616" y="3840480"/>
            <a:ext cx="256032" cy="256032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12664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Cloud-Based Scalability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312664" y="4133088"/>
            <a:ext cx="347472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2664" y="4206240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distributed cloud architecture with real-time admin dashboards, analytics, and horizontally scalable stego-image storage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256032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256032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10896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9768" y="1322588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256032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256032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10896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06040" y="1322588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256032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256032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310896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82312" y="1322588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12864" y="256032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12864" y="256032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310896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58584" y="1322588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1920240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1920240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975104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 ms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29768" y="2986796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0" y="1920240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1920240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1975104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41.2 dB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606040" y="2986796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36592" y="1920240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1920240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975104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782312" y="2986796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12864" y="1920240"/>
            <a:ext cx="1993392" cy="1481328"/>
          </a:xfrm>
          <a:prstGeom prst="rect">
            <a:avLst/>
          </a:prstGeom>
          <a:solidFill>
            <a:srgbClr val="F4F7FC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12864" y="1920240"/>
            <a:ext cx="1993392" cy="54864"/>
          </a:xfrm>
          <a:prstGeom prst="rect">
            <a:avLst/>
          </a:prstGeom>
          <a:solidFill>
            <a:srgbClr val="2D7DD2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1975104"/>
            <a:ext cx="1993392" cy="888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ms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958584" y="2986796"/>
            <a:ext cx="1901952" cy="385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Encryption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" y="3511296"/>
            <a:ext cx="8138160" cy="27432"/>
          </a:xfrm>
          <a:prstGeom prst="rect">
            <a:avLst/>
          </a:prstGeom>
          <a:solidFill>
            <a:srgbClr val="D5E0EF"/>
          </a:solidFill>
          <a:ln w="12700">
            <a:solidFill>
              <a:srgbClr val="D5E0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63931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502920" y="431596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466344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Alshikhah Fayz Alsubaie  ·  Supervised by Dr. Chahira Mohamed Lhioui  ·  University of Bisha  ·  February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2642</Words>
  <Application>Microsoft Office PowerPoint</Application>
  <PresentationFormat>On-screen Show (16:9)</PresentationFormat>
  <Paragraphs>590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Privacy-Preserving Student Attendance System</dc:title>
  <dc:subject>PptxGenJS Presentation</dc:subject>
  <dc:creator>PptxGenJS</dc:creator>
  <cp:lastModifiedBy>abdulqader alshawea</cp:lastModifiedBy>
  <cp:revision>4</cp:revision>
  <dcterms:created xsi:type="dcterms:W3CDTF">2026-04-08T22:56:12Z</dcterms:created>
  <dcterms:modified xsi:type="dcterms:W3CDTF">2026-04-08T23:29:13Z</dcterms:modified>
</cp:coreProperties>
</file>