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2490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Computing and Information Technology  ·  Department of Information Systems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Student Attendance System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Face Recognition with Encrypted Data Embedding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Steganography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28800" y="2423160"/>
            <a:ext cx="548640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57860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Alshikhah Fayz Alsubaie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94436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Chahira Mohamed Lhioui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331012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Degree: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of Science in Cyber Security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3886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Bisha, Kingdom of Saudi Arabia  ·  February 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Thesis Defense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54864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6858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Dept. of Information Systems  ·  Master of Science in Cyber Security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502920" cy="10972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32688" y="98755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2688" y="138988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definition, research questions, objectives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48840"/>
            <a:ext cx="502920" cy="10972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4884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32688" y="222199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Related Work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2688" y="262432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recognition, privacy techniques, steganography survey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383280"/>
            <a:ext cx="502920" cy="10972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38328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32688" y="345643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Architecture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" y="385876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architecture, module design, data flow pipeline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9144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914400"/>
            <a:ext cx="502920" cy="10972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91440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21808" y="98755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1808" y="138988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Technologies, face recognition, encryption, steganography modules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14884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148840"/>
            <a:ext cx="502920" cy="10972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14884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321808" y="222199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21808" y="262432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93.8%, PSNR 41.2 dB, SSIM 0.988, timing analysis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3832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383280"/>
            <a:ext cx="502920" cy="10972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38328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321808" y="345643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21808" y="385876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Contributions, limitations, future directions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54864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— Introduction &amp;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6858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Dept. of Information Systems  ·  Master of Science in Cyber Security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Motivation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170432"/>
            <a:ext cx="8321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is among the most widely deployed biometric technologies due to its non-intrusive nature and compatibility with existing camera infrastructure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attendance methods (manual roll-call, RFID, fingerprint) suffer from time inefficiency, proxy attendance, and hygiene concerns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(CNN-based) systems have dramatically improved recognition accuracy — achieving near-human performance under controlled conditions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However, widespread deployment raises critical privacy concerns: facial images and identity data stored in centralized databases create high-value attack targets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3154680"/>
            <a:ext cx="8321040" cy="15544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21868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Core Statement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56616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thesis proposes a novel system that integrates face recognition, AES encryption, and LSB steganography to eliminate centralized sensitive data storage — embedding encrypted attendance records directly within captured facial images.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54864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6858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Dept. of Information Systems  ·  Master of Science in Cyber Security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4114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841248"/>
            <a:ext cx="4114800" cy="3657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503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Vulnerabilities in Existing Systems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243584"/>
            <a:ext cx="38862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of sensitive biometric data to unauthorized access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large-scale data breaches from centralized stores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privacy-preserving mechanisms in data storage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Susceptibility to spoofing and identity fraud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logs stored separately — increases attack surface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841248"/>
            <a:ext cx="4114800" cy="21945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8961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Research Question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298448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 face recognition-based attendance system be designed to ensure accurate identification while simultaneously preserving user privacy and protecting sensitive data from unauthorized access?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5760" y="3154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Research Questions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547872"/>
            <a:ext cx="256032" cy="2560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5478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7512" y="354787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integrate face recognition for real-time attendance with high accuracy?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877056"/>
            <a:ext cx="256032" cy="2560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8770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7512" y="387705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privacy risks exist in conventional biometric storage?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206240"/>
            <a:ext cx="256032" cy="2560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2062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7512" y="420624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AES encryption secure data without performance penalty?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3547872"/>
            <a:ext cx="256032" cy="2560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35478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19472" y="354787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LSB steganography embed data while preserving image quality?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3877056"/>
            <a:ext cx="256032" cy="2560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38770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19472" y="387705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trade-off between privacy and recognition accuracy?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54864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Contributions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6858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Dept. of Information Systems  ·  Master of Science in Cyber Security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39776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841248"/>
            <a:ext cx="457200" cy="1207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41248"/>
            <a:ext cx="45720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96112" y="93268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Recognition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1298448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real-time face recognition attendance system using deep CNN embeddings trained on VGGFace2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841248"/>
            <a:ext cx="39776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841248"/>
            <a:ext cx="457200" cy="1207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841248"/>
            <a:ext cx="45720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148072" y="93268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Encryption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48072" y="1298448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symmetric encryption mechanism (AES) to protect sensitive attendance data before storage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139696"/>
            <a:ext cx="39776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139696"/>
            <a:ext cx="457200" cy="1207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139696"/>
            <a:ext cx="45720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96112" y="223113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Hiding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6112" y="2596896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LSB steganography to embed encrypted data within captured facial images invisibly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2139696"/>
            <a:ext cx="39776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2139696"/>
            <a:ext cx="457200" cy="1207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2139696"/>
            <a:ext cx="45720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148072" y="223113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Pipeline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48072" y="2596896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recognition, encryption, and steganography into a unified, modular processing pipeline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438144"/>
            <a:ext cx="39776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438144"/>
            <a:ext cx="457200" cy="1207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438144"/>
            <a:ext cx="45720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96112" y="352958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Eval.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96112" y="3895344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accuracy, security robustness, processing time, and image quality (PSNR/SSIM)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17720" y="3438144"/>
            <a:ext cx="39776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7720" y="3438144"/>
            <a:ext cx="457200" cy="1207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3438144"/>
            <a:ext cx="45720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148072" y="352958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Analysis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48072" y="3895344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balance between privacy preservation and system performance in real-world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54864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— Background: Core Technical Concepts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6858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Dept. of Information Systems  ·  Master of Science in Cyber Security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841248"/>
            <a:ext cx="3977640" cy="32918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68680"/>
            <a:ext cx="3831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Face Recognition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207008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extract high-dimensional embeddings from facial images. Triplet/angular margin losses (FaceNet, ArcFace) map faces into Euclidean space where distance = dissimilarity. Evolved from classical Eigenfaces/PCA to near-human accuracy.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841248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841248"/>
            <a:ext cx="3977640" cy="32918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868680"/>
            <a:ext cx="3831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Attendance Systems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1207008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identity verification for attendance logging. Eliminate proxy attendance and manual errors. Transfer learning from large datasets (VGGFace2) enables high accuracy with reasonable training overhead.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167128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167128"/>
            <a:ext cx="3977640" cy="32918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194560"/>
            <a:ext cx="3831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Biometrics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532888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multi-party computation, data obfuscation, and feature transformation protect biometric templates. Key challenge: balancing protection level against computational overhead for real-time systems.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2167128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2167128"/>
            <a:ext cx="3977640" cy="32918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90872" y="2194560"/>
            <a:ext cx="3831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2532888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Conceals data within digital media (cover image) without perceptible change. LSB: modifies least significant bits of pixel RGB values. Provides security through obscurity — data presence is undetectable.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493008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493008"/>
            <a:ext cx="3977640" cy="32918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520440"/>
            <a:ext cx="3831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Symmetric Encryption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858768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Encryption Standard — block cipher operating on 128/192/256-bit keys. Transforms plaintext into ciphertext that is computationally infeasible to reverse without the key. Minimal performance overhead (~12 ms per record).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17720" y="3493008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7720" y="3493008"/>
            <a:ext cx="3977640" cy="32918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90872" y="3520440"/>
            <a:ext cx="3831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Quality Metrics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9160" y="3858768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(Peak Signal-to-Noise Ratio): measures pixel-level distortion in dB — higher = better quality. SSIM (Structural Similarity Index): measures perceived structural similarity — 1.0 = identical images.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54864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— Comparative Analysis of Existing Approaches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6858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Dept. of Information Systems  ·  Master of Science in Cyber Security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Models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15568"/>
          <a:ext cx="3977640" cy="14097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Privacy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Key Limitation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FaceNet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Very High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No data protection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DeepFace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Very High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Requires large datasets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ArcFace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State-of-art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No security integration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800600" y="80467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Systems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115568"/>
          <a:ext cx="3977640" cy="14097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System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Approach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Security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Limitation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Karunakar et al.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Transfer Learning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No privacy protection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Wagh et al.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OpenCV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Poor robustness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Survey [11]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Review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Weak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Security gap identified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65760" y="248716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Techniques</a:t>
            </a:r>
            <a:endParaRPr lang="en-US" sz="12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07208"/>
          <a:ext cx="3977640" cy="128016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Capacity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Complexity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Limitation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LSB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Very Low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Easily detectable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Deep Steg.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Computational cost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HiDDeN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Complex training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RDH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Limited adoption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4800600" y="2487168"/>
            <a:ext cx="3977640" cy="1600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892040" y="254203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Research Gap</a:t>
            </a:r>
            <a:endParaRPr lang="en-US" sz="1200" dirty="0"/>
          </a:p>
        </p:txBody>
      </p:sp>
      <p:sp>
        <p:nvSpPr>
          <p:cNvPr id="10" name="Text 10"/>
          <p:cNvSpPr/>
          <p:nvPr/>
        </p:nvSpPr>
        <p:spPr>
          <a:xfrm>
            <a:off x="4892040" y="288036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combines face recognition + encryption + steganography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 storage dominates — high breach risk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methods too slow for real-time in existing work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never applied in biometric attendance context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54864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— System Architecture: 4-Layer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6858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Dept. of Information Systems  ·  Master of Science in Cyber Security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41248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41248"/>
            <a:ext cx="2011680" cy="457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412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0698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Acquisition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37160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camera capture · Face region extraction · Preprocessing (normalization, alignment)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31720" y="1463040"/>
            <a:ext cx="41148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371600"/>
            <a:ext cx="137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23160" y="841248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3160" y="841248"/>
            <a:ext cx="201168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8412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23160" y="10698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14600" y="137160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deep embedding (VGGFace2) · Euclidean distance matching · Threshold-based identity decision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1463040"/>
            <a:ext cx="41148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371600"/>
            <a:ext cx="137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26280" y="841248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26280" y="841248"/>
            <a:ext cx="2011680" cy="4572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8412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26280" y="10698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17720" y="137160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symmetric encryption of attendance record · LSB steganographic embedding into capture image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37960" y="1463040"/>
            <a:ext cx="41148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1371600"/>
            <a:ext cx="137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29400" y="841248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841248"/>
            <a:ext cx="2011680" cy="457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8412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29400" y="10698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Layer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20840" y="137160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Stego-image stored as self-contained attendance record · No separate plaintext database required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4169664"/>
            <a:ext cx="850392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21538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INNOVATION: 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423160" y="4215384"/>
            <a:ext cx="6263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conventional systems that store plaintext data in separate databases, this system embeds encrypted attendance records directly INTO each captured stego-image — eliminating centralized sensitive data storage and reducing the overall attack surface.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54864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Module — Deep CNN Embedding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6858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Dept. of Information Systems  ·  Master of Science in Cyber Security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41248"/>
            <a:ext cx="1600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41248"/>
            <a:ext cx="1600200" cy="43891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412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58952" y="84124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316736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MTCNN / RetinaFace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 facial region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camera frame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128016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029968" y="841248"/>
            <a:ext cx="1600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29968" y="841248"/>
            <a:ext cx="1600200" cy="43891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29968" y="8412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68880" y="84124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&amp;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21408" y="1316736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alignment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standard pose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normalization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30168" y="128016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39896" y="841248"/>
            <a:ext cx="1600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39896" y="841248"/>
            <a:ext cx="1600200" cy="43891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9896" y="8412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178808" y="84124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Feature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31336" y="1316736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deep CNN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(VGGFace2 trained)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 embedding vector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0096" y="128016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49824" y="841248"/>
            <a:ext cx="1600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49824" y="841248"/>
            <a:ext cx="1600200" cy="43891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9824" y="8412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888736" y="84124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41264" y="1316736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/ cosine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vs. stored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templates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50024" y="128016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159752" y="841248"/>
            <a:ext cx="1600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59752" y="841248"/>
            <a:ext cx="1600200" cy="43891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59752" y="8412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598664" y="84124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51192" y="1316736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comparison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→ Identity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 → Unknown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29260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2926080"/>
            <a:ext cx="4160520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294436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VGGFace2 Training Dataset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11480" y="3319272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3 million images spanning more than 9,000 unique identities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intra-class variation: pose, age, illumination, ethnicity, background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specifically for robust real-world face recognition benchmarking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LFW (Labeled Faces in the Wild) used for cross-validation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29260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2926080"/>
            <a:ext cx="4160520" cy="3657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294436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Logic &amp; Storage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754880" y="3319272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phase: facial embeddings generated and stored in reference DB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live embedding compared to stored templates via distance metric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Predefined distance threshold determines identity match / rejection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databases: raw images, stego-images, and facial embeddings DB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54864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Module — AES-256 Symmetric Encryption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6858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Dept. of Information Systems  ·  Master of Science in Cyber Security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841248"/>
            <a:ext cx="1920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841248"/>
            <a:ext cx="1920240" cy="43891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412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41832" y="84124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Creation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316736"/>
            <a:ext cx="17373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identity + timestamp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assembled into structured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string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23160" y="1280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606040" y="841248"/>
            <a:ext cx="1920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841248"/>
            <a:ext cx="1920240" cy="43891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8412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044952" y="84124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97480" y="1316736"/>
            <a:ext cx="17373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record serialized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standardized string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1280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09160" y="841248"/>
            <a:ext cx="1920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841248"/>
            <a:ext cx="1920240" cy="43891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8412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148072" y="84124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1316736"/>
            <a:ext cx="17373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encryption applied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AES-256 block cipher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managed secret key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29400" y="1280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12280" y="841248"/>
            <a:ext cx="1920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12280" y="841248"/>
            <a:ext cx="1920240" cy="43891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8412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251192" y="84124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03720" y="1316736"/>
            <a:ext cx="17373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ciphertext passed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to steganography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for embedding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2834640"/>
            <a:ext cx="4114800" cy="19202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88950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Encryption Properties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3231278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Advanced Encryption Standard (AES) — symmetric block cipher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length: 256-bit (AES-256-GCM mode used in implementation)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ciphertext is computationally infeasible to reverse without the key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plaintext data stored or transmitted at any stage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management handled securely within the system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83464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2834640"/>
            <a:ext cx="4114800" cy="3657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85292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Guarantees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754880" y="3246120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confidentiality: encrypted before embedding → double protection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stego-image is retrieved, data is unreadable without key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performance: ~12 ms per encryption operation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Defense-in-depth: encryption + steganography = two independent barriers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54864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Module — LSB Embedding Technique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6858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Dept. of Information Systems  ·  Master of Science in Cyber Security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41248"/>
            <a:ext cx="1600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41248"/>
            <a:ext cx="1600200" cy="43891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412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58952" y="84124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Input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316736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AES ciphertext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from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module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128016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029968" y="841248"/>
            <a:ext cx="1600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29968" y="841248"/>
            <a:ext cx="1600200" cy="43891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29968" y="8412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68880" y="84124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Conversion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21408" y="1316736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converted 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bit stream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embedding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30168" y="128016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39896" y="841248"/>
            <a:ext cx="1600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39896" y="841248"/>
            <a:ext cx="1600200" cy="43891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9896" y="8412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178808" y="84124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Selection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31336" y="1316736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image pixel RGB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selected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sequentially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0096" y="128016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49824" y="841248"/>
            <a:ext cx="1600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49824" y="841248"/>
            <a:ext cx="1600200" cy="43891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9824" y="8412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888736" y="84124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Substitution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41264" y="1316736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Significant Bit of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channel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with data bit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50024" y="128016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159752" y="841248"/>
            <a:ext cx="1600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59752" y="841248"/>
            <a:ext cx="1600200" cy="43891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59752" y="8412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598664" y="84124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Stego-Image Output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51192" y="1316736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Resulting image visually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to original;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data embedded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29260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2926080"/>
            <a:ext cx="4160520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294436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Technical Details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51846" y="3412036"/>
            <a:ext cx="41605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on RGB pixel channels — 3 bits embeddable per pixel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change: intensity shift of only ±1 — imperceptible to human vision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640×480 image: 640×480×3 = 921,600 bits (~115 KB) capacity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 to store encrypted identity + timestamp + metadata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process is reversible: LSB extraction + AES decryption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2926080"/>
            <a:ext cx="4160520" cy="1783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980944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Dual-Layer Security Model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54880" y="3319272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Encryption: data is unintelligible without AES key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Steganography: data presence is undetectable in image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Adversary must first detect hidden data, THEN break AES-256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Stego-image functions as a tamper-proof, self-contained record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for offline verification by administrators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54864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 Flow — 8-Step Processing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6858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Dept. of Information Systems  ·  Master of Science in Cyber Security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41248"/>
            <a:ext cx="4069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41248"/>
            <a:ext cx="475488" cy="8412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41248"/>
            <a:ext cx="4754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3429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captures real-time facial image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682496"/>
            <a:ext cx="47548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810512"/>
            <a:ext cx="4069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810512"/>
            <a:ext cx="475488" cy="8412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10512"/>
            <a:ext cx="4754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68680" y="1810512"/>
            <a:ext cx="3429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&amp; extraction from captured frame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651760"/>
            <a:ext cx="47548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779776"/>
            <a:ext cx="4069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779776"/>
            <a:ext cx="475488" cy="8412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779776"/>
            <a:ext cx="4754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68680" y="2779776"/>
            <a:ext cx="3429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CNN feature extraction → 512-d embedding vector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621024"/>
            <a:ext cx="47548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749040"/>
            <a:ext cx="4069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749040"/>
            <a:ext cx="475488" cy="8412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749040"/>
            <a:ext cx="4754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68680" y="3749040"/>
            <a:ext cx="3429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matched against stored templates (Euclidean/cosine distance)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841248"/>
            <a:ext cx="4069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841248"/>
            <a:ext cx="475488" cy="8412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841248"/>
            <a:ext cx="4754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303520" y="841248"/>
            <a:ext cx="3429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record generated: [User ID + Timestamp]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1682496"/>
            <a:ext cx="47548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1810512"/>
            <a:ext cx="4069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1810512"/>
            <a:ext cx="475488" cy="84124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1810512"/>
            <a:ext cx="4754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303520" y="1810512"/>
            <a:ext cx="3429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 transforms record to ciphertext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2651760"/>
            <a:ext cx="47548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2779776"/>
            <a:ext cx="4069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2779776"/>
            <a:ext cx="475488" cy="84124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779776"/>
            <a:ext cx="4754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5303520" y="2779776"/>
            <a:ext cx="3429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steganography embeds ciphertext into captured image pixel channels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46320" y="3621024"/>
            <a:ext cx="47548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3749040"/>
            <a:ext cx="4069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3749040"/>
            <a:ext cx="475488" cy="84124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749040"/>
            <a:ext cx="4754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5303520" y="3749040"/>
            <a:ext cx="3429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stego-image stored as complete, self-contained attendance record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54864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— Implementation: Technologies &amp; Modules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6858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Dept. of Information Systems  ·  Master of Science in Cyber Security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41248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41248"/>
            <a:ext cx="4114800" cy="3657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5953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 &amp; Stack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131049"/>
              </p:ext>
            </p:extLst>
          </p:nvPr>
        </p:nvGraphicFramePr>
        <p:xfrm>
          <a:off x="406842" y="1237288"/>
          <a:ext cx="3931920" cy="14935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45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</a:rPr>
                        <a:t>Component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</a:rPr>
                        <a:t>Technology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5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Language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Python 3.x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5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Deep Learning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PyTorch / TensorFlow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5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Computer Vision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OpenCV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5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Numerical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NumPy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5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Cryptography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Cryptography library (AES)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5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Steganography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Custom LSB implementation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709160" y="841248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841248"/>
            <a:ext cx="4114800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0600" y="85953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Design</a:t>
            </a:r>
            <a:endParaRPr lang="en-US" sz="1200" dirty="0"/>
          </a:p>
        </p:txBody>
      </p:sp>
      <p:sp>
        <p:nvSpPr>
          <p:cNvPr id="10" name="Text 11"/>
          <p:cNvSpPr/>
          <p:nvPr/>
        </p:nvSpPr>
        <p:spPr>
          <a:xfrm>
            <a:off x="4800600" y="1243584"/>
            <a:ext cx="39319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(face recognition, encryption, steganography) implemented as an independent module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independently testable and replaceable without affecting rest of pipeline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via sequential function calls in the unified pipeline controller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Image-centric storage: stego-images replace traditional tabular attendance DB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components: raw images + stego-images + facial embeddings DB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20040" y="29718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" y="2971800"/>
            <a:ext cx="4114800" cy="329184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29900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Implementation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11480" y="333756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pipeline: detection → alignment → normalization → embedding → matching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VGGFace2 pre-trained weights used for feature extraction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Enrollment: embeddings precomputed and stored in reference DB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/ Euclidean distance for runtime matching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09160" y="29718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09160" y="2971800"/>
            <a:ext cx="4114800" cy="329184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00600" y="29900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Implementation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800600" y="3364064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Python LSB module — no third-party stego libraries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AES ciphertext + host (captured) image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substitution on RGB channels of sequential pixels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stego-image + reversibility for data extraction/decryption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54864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— System Screens &amp;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6858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Dept. of Information Systems  ·  Master of Science in Cyber Security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41248"/>
            <a:ext cx="4069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41248"/>
            <a:ext cx="4069080" cy="32918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859536"/>
            <a:ext cx="3922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5-1: Entry / Sign-In Portal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207008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 gateway. Introduces the system's three technological pillars: 512-d facial embeddings, AES-256-bit encryption, and LSB steganography. All attendance operations conducted within this protected environment.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167128"/>
            <a:ext cx="4069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167128"/>
            <a:ext cx="4069080" cy="32918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185416"/>
            <a:ext cx="3922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5-2: Administrative Dashboard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2532888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command center providing real-time overview of system metrics, active security pipeline status (MTCNN → FaceNet → AES-256-GCM → LSB). Enables monitoring of face detection stages, encryption status, student distribution, and course management.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493008"/>
            <a:ext cx="4069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493008"/>
            <a:ext cx="4069080" cy="32918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3511296"/>
            <a:ext cx="3922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5-3: Student Registration Page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3858768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biometric profile enrollment. Each student record linked to unique facial embeddings and attendance history. Profile card organization maintains clear role hierarchy and database integrity.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841248"/>
            <a:ext cx="4069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841248"/>
            <a:ext cx="4069080" cy="32918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859536"/>
            <a:ext cx="3922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5-4: Capture Attendance Interface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1207008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operational screen. Executes real-time face recognition. 4-step visible pipeline: Capture → Recognize → Encrypt → Embed. Generates downloadable stego-image as tamper-proof attendance record.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167128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2167128"/>
            <a:ext cx="4069080" cy="329184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2185416"/>
            <a:ext cx="3922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5-5: Stego Image Viewer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46320" y="2532888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and audit module. Administrators upload stego-images to extract and decrypt hidden data. Visualizes full extraction pipeline: Stego-Image → LSB Extraction → Ciphertext → AES Decryption → Identity + Timestamp.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54864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Results: Face Recognition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6858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Dept. of Information Systems  ·  Master of Science in Cyber Security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1920240" cy="729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93.8%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1636776"/>
            <a:ext cx="1920240" cy="5038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841248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914400"/>
            <a:ext cx="1920240" cy="729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92.9%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68880" y="1636776"/>
            <a:ext cx="1920240" cy="5038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 False Positives)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841248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914400"/>
            <a:ext cx="1920240" cy="729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72000" y="1636776"/>
            <a:ext cx="1920240" cy="5038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(Detection Rate)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841248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914400"/>
            <a:ext cx="1920240" cy="729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91.0%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675120" y="1636776"/>
            <a:ext cx="1920240" cy="5038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(Harmonic Mean)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286000"/>
            <a:ext cx="39776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286000"/>
            <a:ext cx="3977640" cy="3657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304288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Summary (Table 5-2)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423862"/>
              </p:ext>
            </p:extLst>
          </p:nvPr>
        </p:nvGraphicFramePr>
        <p:xfrm>
          <a:off x="457200" y="2697480"/>
          <a:ext cx="3794760" cy="110947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13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1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Correct Predictions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Incorrect Predictions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Known Faces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</a:rPr>
                        <a:t>938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B0000"/>
                          </a:solidFill>
                        </a:rPr>
                        <a:t>62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Unknown Faces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</a:rPr>
                        <a:t>915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B0000"/>
                          </a:solidFill>
                        </a:rPr>
                        <a:t>85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411480" y="3808674"/>
            <a:ext cx="39776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primarily occur in borderline cases with high inter-class facial similarity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Low-resolution or degraded image quality contributes to misclassification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structural model deficiencies — errors align with known face recognition challenges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617720" y="2286000"/>
            <a:ext cx="41148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617720" y="2286000"/>
            <a:ext cx="4114800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09160" y="230428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— Sources of Misclassification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709160" y="2697480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Variations in lighting conditions — not captured in training set distribution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Occlusions: glasses, masks, or partial face coverage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head pose angles outside the model's training distribution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Low-resolution or high-noise input images from camera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factors are well-documented challenges in face recognition literature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54864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System Performance, Encryption &amp; Steganography Evaluation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6858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Dept. of Information Systems  ·  Master of Science in Cyber Security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41248"/>
            <a:ext cx="41605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41248"/>
            <a:ext cx="4160520" cy="3657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59536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Processing Time per Module (Table 5-3)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43584"/>
          <a:ext cx="3977640" cy="16611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12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1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Avg. Time (ms)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1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Face Detection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78 ms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Face Recognition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110 ms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AES Encryption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 ms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Steganography Embedding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35 ms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E7C7B"/>
                          </a:solidFill>
                        </a:rPr>
                        <a:t>235 ms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663440" y="841248"/>
            <a:ext cx="41148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841248"/>
            <a:ext cx="4114800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0" y="85953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Quality Metrics — Steganography (Table 5-4)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1261872"/>
            <a:ext cx="178308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129844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754880" y="162763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41.2 dB</a:t>
            </a:r>
            <a:endParaRPr lang="en-US" sz="2600" dirty="0"/>
          </a:p>
        </p:txBody>
      </p:sp>
      <p:sp>
        <p:nvSpPr>
          <p:cNvPr id="10" name="Text 14"/>
          <p:cNvSpPr/>
          <p:nvPr/>
        </p:nvSpPr>
        <p:spPr>
          <a:xfrm>
            <a:off x="4754880" y="21031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pixel distortion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720840" y="1261872"/>
            <a:ext cx="196596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20840" y="129844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720840" y="162763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0.988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6720840" y="21031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Near-identical structure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0040" y="3035808"/>
            <a:ext cx="4160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20040" y="3035808"/>
            <a:ext cx="4160520" cy="34747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" y="3054096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Capacity Analysis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11480" y="3429000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resolution: 640×480 → ~115 KB raw embedding capacity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 to store: User ID + timestamp + auxiliary metadata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functional degradation from LSB-based embedding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capacity/imperceptibility trade-off with 1-bit LSB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663440" y="3035808"/>
            <a:ext cx="41148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663440" y="3035808"/>
            <a:ext cx="411480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54880" y="305409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Evaluation &amp; Latency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754880" y="342900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AES encryption: ~12 ms per attendance record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plaintext exposure during transmission or storage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235 ms pipeline — suitable for near real-time deployment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supports sequential multi-user processing at operational speed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54864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Discussion: Interpretation of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6858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Dept. of Information Systems  ·  Master of Science in Cyber Security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41248"/>
            <a:ext cx="41605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41248"/>
            <a:ext cx="4160520" cy="3657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59536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System Strengths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243584"/>
            <a:ext cx="397764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93.8% recognition accuracy — competitive with state-of-the-art on VGGFace2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235 ms total pipeline — practical near real-time performance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 of 0.988 confirms steganographic embedding is visually imperceptible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Dual-layer security (AES + LSB) provides defense-in-depth protection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enables independent component upgrades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centralized sensitive data storage — reduces attack surface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841248"/>
            <a:ext cx="41148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841248"/>
            <a:ext cx="4114800" cy="3657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85953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Acknowledged Limitations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1243584"/>
            <a:ext cx="393192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degrades under extreme lighting variation or occlusion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assumes controlled environments — not validated for unconstrained outdoor use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quality dependent on input image quality from camera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performance varies with hardware specifications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steganography has lower robustness vs. deep learning stego methods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deployment scalability requires further validation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3090672"/>
            <a:ext cx="8458200" cy="1600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1455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System Assessment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529584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achieves a strong balance between accuracy, efficiency, and security. The recognition component delivers reliable identification at 93.8%, the integration of AES encryption ensures data confidentiality, and LSB steganography enables secure embedding without perceptible image distortion. The 235 ms total pipeline confirms practical feasibility for real-world deployment in controlled institutional environments.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54864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Conclusions &amp; Key Contributions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6858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Dept. of Information Systems  ·  Master of Science in Cyber Security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implemented a fully integrated, privacy-preserving student attendance system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93.8% face recognition accuracy using VGGFace2-trained deep CNN embeddings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attendance data via AES-256 encryption with minimal overhead (12 ms/record)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embedded encrypted data in facial images using LSB steganography (PSNR: 41.2 dB, SSIM: 0.988)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processes a complete attendance transaction in ~235 ms — near real-time capability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7249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Contributions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090672"/>
            <a:ext cx="3977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3090672"/>
            <a:ext cx="59436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090672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3136392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Architecture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24128" y="3419856"/>
            <a:ext cx="322783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system combining face recognition + AES encryption + LSB steganography in a unified attendance pipeline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3090672"/>
            <a:ext cx="3977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3090672"/>
            <a:ext cx="59436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090672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21808" y="3136392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Image-Centric Storage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321808" y="3419856"/>
            <a:ext cx="322783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records embedded within stego-images — eliminates centralized sensitive data storage entirely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959352"/>
            <a:ext cx="3977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959352"/>
            <a:ext cx="59436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959352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24128" y="4005072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Dual-Layer Security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24128" y="4288536"/>
            <a:ext cx="322783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 via AES (confidentiality) + LSB (obscurity) — adversary must defeat both layers independently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959352"/>
            <a:ext cx="3977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959352"/>
            <a:ext cx="59436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959352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21808" y="4005072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Performance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321808" y="4288536"/>
            <a:ext cx="322783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evaluation: recognition metrics, confusion matrix, processing time, PSNR/SSIM, and capacity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54864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— Directions for Enhancement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6858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Dept. of Information Systems  ·  Master of Science in Cyber Security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41248"/>
            <a:ext cx="40690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41248"/>
            <a:ext cx="475488" cy="12070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41248"/>
            <a:ext cx="47548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91440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Face Recognition Architectures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280160"/>
            <a:ext cx="34290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next-generation models (e.g., ArcFace, TransFace) to improve robustness under challenging lighting, occlusion, and extreme pose conditions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841248"/>
            <a:ext cx="40690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841248"/>
            <a:ext cx="475488" cy="1207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841248"/>
            <a:ext cx="47548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03520" y="91440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Biometric Authentication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0" y="1280160"/>
            <a:ext cx="34290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face recognition with voice or fingerprint recognition to add a secondary verification factor and reduce false positive risk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167128"/>
            <a:ext cx="40690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167128"/>
            <a:ext cx="475488" cy="12070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167128"/>
            <a:ext cx="47548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68680" y="224028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Device Optimization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2606040"/>
            <a:ext cx="34290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model inference and encryption for deployment on low-power hardware (Raspberry Pi, mobile SoCs) to enable portable, self-contained units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167128"/>
            <a:ext cx="40690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167128"/>
            <a:ext cx="475488" cy="1207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167128"/>
            <a:ext cx="47548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303520" y="224028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Cryptographic Techniques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03520" y="2606040"/>
            <a:ext cx="34290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hybrid encryption models (e.g., RSA for key exchange + AES for data) or homomorphic encryption for privacy-preserving computation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493008"/>
            <a:ext cx="40690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493008"/>
            <a:ext cx="475488" cy="12070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493008"/>
            <a:ext cx="47548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68680" y="356616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Sophisticated Steganography Methods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3931920"/>
            <a:ext cx="34290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higher-capacity transform-domain or deep learning steganography (HiDDeN, RDH) for greater embedding capacity and improved imperceptibility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493008"/>
            <a:ext cx="40690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493008"/>
            <a:ext cx="475488" cy="1207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493008"/>
            <a:ext cx="47548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303520" y="356616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&amp; Distributed Architecture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03520" y="3931920"/>
            <a:ext cx="34290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system to support distributed deployment with real-time monitoring dashboards, administrative analytics, and cloud-scalable storage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Results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011680" cy="1051560"/>
          </a:xfrm>
          <a:prstGeom prst="rect">
            <a:avLst/>
          </a:prstGeom>
          <a:solidFill>
            <a:srgbClr val="1B3A5C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93.8%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7830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Accuracy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143000"/>
            <a:ext cx="2011680" cy="1051560"/>
          </a:xfrm>
          <a:prstGeom prst="rect">
            <a:avLst/>
          </a:prstGeom>
          <a:solidFill>
            <a:srgbClr val="1B3A5C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234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92.9%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68880" y="17830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143000"/>
            <a:ext cx="2011680" cy="1051560"/>
          </a:xfrm>
          <a:prstGeom prst="rect">
            <a:avLst/>
          </a:prstGeom>
          <a:solidFill>
            <a:srgbClr val="1B3A5C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234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17720" y="17830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1143000"/>
            <a:ext cx="2011680" cy="1051560"/>
          </a:xfrm>
          <a:prstGeom prst="rect">
            <a:avLst/>
          </a:prstGeom>
          <a:solidFill>
            <a:srgbClr val="1B3A5C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234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66560" y="17830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313432"/>
            <a:ext cx="2011680" cy="1051560"/>
          </a:xfrm>
          <a:prstGeom prst="rect">
            <a:avLst/>
          </a:prstGeom>
          <a:solidFill>
            <a:srgbClr val="1B3A5C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0487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235 ms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20040" y="29535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Pipeline Time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68880" y="2313432"/>
            <a:ext cx="2011680" cy="1051560"/>
          </a:xfrm>
          <a:prstGeom prst="rect">
            <a:avLst/>
          </a:prstGeom>
          <a:solidFill>
            <a:srgbClr val="1B3A5C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240487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41.2 dB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468880" y="29535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2313432"/>
            <a:ext cx="2011680" cy="1051560"/>
          </a:xfrm>
          <a:prstGeom prst="rect">
            <a:avLst/>
          </a:prstGeom>
          <a:solidFill>
            <a:srgbClr val="1B3A5C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240487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0.988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617720" y="29535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2313432"/>
            <a:ext cx="2011680" cy="1051560"/>
          </a:xfrm>
          <a:prstGeom prst="rect">
            <a:avLst/>
          </a:prstGeom>
          <a:solidFill>
            <a:srgbClr val="1B3A5C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240487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ms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766560" y="29535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Encryption Time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456432"/>
            <a:ext cx="8503920" cy="5486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4930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system demonstrates that combining deep learning biometrics with cryptographic and steganographic techniques produces a secure, efficient, and privacy-conscious attendance solution."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0040" y="41148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320040" y="45262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Alshikhah Fayz Alsubaie  ·  Supervised by Dr. Chahira Mohamed Lhioui  ·  University of Bisha  ·  February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3095</Words>
  <Application>Microsoft Office PowerPoint</Application>
  <PresentationFormat>On-screen Show (16:9)</PresentationFormat>
  <Paragraphs>555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Privacy-Preserving Student Attendance System</dc:title>
  <dc:subject>PptxGenJS Presentation</dc:subject>
  <dc:creator>PptxGenJS</dc:creator>
  <cp:lastModifiedBy>abdulqader alshawea</cp:lastModifiedBy>
  <cp:revision>3</cp:revision>
  <dcterms:created xsi:type="dcterms:W3CDTF">2026-04-08T22:03:49Z</dcterms:created>
  <dcterms:modified xsi:type="dcterms:W3CDTF">2026-04-08T22:26:13Z</dcterms:modified>
</cp:coreProperties>
</file>